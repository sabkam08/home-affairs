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the rubric walkthrough. Emphasise this rubric is the exact one loaded into Blackboard for grading.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sections quickly before drilling into each one in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assessors select a band for each criterion, then assign a specific number within that band's range based on the max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A is worth the most marks. Emphasise that the HLD must be understandable to a non-technical reader, while the DDD requires real technical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three DIFFERENT diagram types are required — students often submit three variations of the same diagram type and lose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caption every screenshot and explain the design decision it demonstrates — bare screenshots lose marks in C2.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traceability row. This is the gold standard: specific requirement ID, specific design element with a section reference, and an evidenced justification.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weak feasibility/security discussion or poor academic writing can quietly pull down marks across all four scored sections — assessors use this holistically.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the "Grade Band Guide" tab in the rubric spreadsheet uploaded to Blackboard.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A carries the most weight at 30 marks — remind students to invest proportional time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checklist is the last page of the Design Phase Template and the last tab of the rubric workbook — full circle for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rubric walkthrough. Encourage students to keep this deck alongside the template while drafting.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731520"/>
            <a:ext cx="5029200" cy="5029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5029200"/>
            <a:ext cx="3657600" cy="3657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BLACKBOARD MARKING RUBRIC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Phase Rubric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0B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Your Submission Will Be Assessed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2606040" cy="384048"/>
          </a:xfrm>
          <a:prstGeom prst="roundRect">
            <a:avLst>
              <a:gd name="adj" fmla="val 23810"/>
            </a:avLst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114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Design Docs · 30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4114800"/>
            <a:ext cx="2606040" cy="384048"/>
          </a:xfrm>
          <a:prstGeom prst="roundRect">
            <a:avLst>
              <a:gd name="adj" fmla="val 23810"/>
            </a:avLst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4114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Diagrams · 25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4114800"/>
            <a:ext cx="2606040" cy="384048"/>
          </a:xfrm>
          <a:prstGeom prst="roundRect">
            <a:avLst>
              <a:gd name="adj" fmla="val 23810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4114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Prototypes · 25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15400" y="4114800"/>
            <a:ext cx="260604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915400" y="4114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Traceability · 20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217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PGDip ICT  ·  Capstone Project  ·  Due: 19 June 2026  ·  Total: 100 marks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 Structure at a Glance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scored sections (100 marks) plus one holistic quality section.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600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Documents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9385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High-Level Design (15) · A2 Detailed Design (15)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378440" y="1709928"/>
            <a:ext cx="1188720" cy="420624"/>
          </a:xfrm>
          <a:prstGeom prst="roundRect">
            <a:avLst>
              <a:gd name="adj" fmla="val 19565"/>
            </a:avLst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10378440" y="170992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 marks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41448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57860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25328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Diagrams &amp; Visual Aids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87121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Architecture/Topology (8) · B2 Sequence/Flow (9) · B3 Data/ERD (8)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378440" y="2642616"/>
            <a:ext cx="1188720" cy="420624"/>
          </a:xfrm>
          <a:prstGeom prst="roundRect">
            <a:avLst>
              <a:gd name="adj" fmla="val 19565"/>
            </a:avLst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10378440" y="264261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25 marks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74136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511296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511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4655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Prototypes &amp; Mockups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80390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Description (8) · C2 Screenshots (9) · C3 Functionality (8)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378440" y="3575304"/>
            <a:ext cx="1188720" cy="420624"/>
          </a:xfrm>
          <a:prstGeom prst="roundRect">
            <a:avLst>
              <a:gd name="adj" fmla="val 19565"/>
            </a:avLst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10378440" y="357530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25 marks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306824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4443984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443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71600" y="43982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Traceability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71600" y="47365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 Completeness (10) · D2 Justification Quality (10)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378440" y="4507992"/>
            <a:ext cx="1188720" cy="420624"/>
          </a:xfrm>
          <a:prstGeom prst="roundRect">
            <a:avLst>
              <a:gd name="adj" fmla="val 19565"/>
            </a:avLst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10378440" y="450799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 marks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5239512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4360" y="537667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5376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71600" y="53309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Evaluation &amp; Academic Quality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71600" y="56692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Feasibility/Scalability/Security · E2 Writing &amp; Referencing — holistic, informs overall mark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195560" y="5440680"/>
            <a:ext cx="1371600" cy="420624"/>
          </a:xfrm>
          <a:prstGeom prst="roundRect">
            <a:avLst>
              <a:gd name="adj" fmla="val 19565"/>
            </a:avLst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10195560" y="5440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Holistic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the Performance Bands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B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criterion is marked against four descriptive bands — not a single pass/fail line.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4297680"/>
          </a:xfrm>
          <a:prstGeom prst="roundRect">
            <a:avLst>
              <a:gd name="adj" fmla="val 3448"/>
            </a:avLst>
          </a:prstGeom>
          <a:solidFill>
            <a:srgbClr val="D9EAD3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2651760" cy="548640"/>
          </a:xfrm>
          <a:prstGeom prst="rect">
            <a:avLst/>
          </a:prstGeom>
          <a:solidFill>
            <a:srgbClr val="1E462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(90–100%)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criterion is fully and expertly satisfied. Depth, precision, and professional presentation throughout.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0128" y="1554480"/>
            <a:ext cx="2651760" cy="4297680"/>
          </a:xfrm>
          <a:prstGeom prst="roundRect">
            <a:avLst>
              <a:gd name="adj" fmla="val 3448"/>
            </a:avLst>
          </a:prstGeom>
          <a:solidFill>
            <a:srgbClr val="FFF9C4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554480"/>
            <a:ext cx="2651760" cy="548640"/>
          </a:xfrm>
          <a:prstGeom prst="rect">
            <a:avLst/>
          </a:prstGeom>
          <a:solidFill>
            <a:srgbClr val="7D6608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 (75–89%)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93008" y="22860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criterion is well satisfied with minor gaps. Solid, competent work with small room for refinement.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63056" y="1554480"/>
            <a:ext cx="2651760" cy="4297680"/>
          </a:xfrm>
          <a:prstGeom prst="roundRect">
            <a:avLst>
              <a:gd name="adj" fmla="val 3448"/>
            </a:avLst>
          </a:prstGeom>
          <a:solidFill>
            <a:srgbClr val="FCE5CD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554480"/>
            <a:ext cx="2651760" cy="548640"/>
          </a:xfrm>
          <a:prstGeom prst="rect">
            <a:avLst/>
          </a:prstGeom>
          <a:solidFill>
            <a:srgbClr val="7D3C07"/>
          </a:solidFill>
          <a:ln/>
        </p:spPr>
      </p:sp>
      <p:sp>
        <p:nvSpPr>
          <p:cNvPr id="15" name="Text 13"/>
          <p:cNvSpPr/>
          <p:nvPr/>
        </p:nvSpPr>
        <p:spPr>
          <a:xfrm>
            <a:off x="6163056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(50–74%)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45936" y="22860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criterion is partially satisfied. Noticeable gaps in depth, clarity, or completeness.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15984" y="1554480"/>
            <a:ext cx="2651760" cy="4297680"/>
          </a:xfrm>
          <a:prstGeom prst="roundRect">
            <a:avLst>
              <a:gd name="adj" fmla="val 3448"/>
            </a:avLst>
          </a:prstGeom>
          <a:solidFill>
            <a:srgbClr val="F4CCCC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15984" y="1554480"/>
            <a:ext cx="2651760" cy="548640"/>
          </a:xfrm>
          <a:prstGeom prst="rect">
            <a:avLst/>
          </a:prstGeom>
          <a:solidFill>
            <a:srgbClr val="9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9015984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Competent (0–49%)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98864" y="22860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criterion is not satisfied. Missing, superficial, or fundamentally incorrect content.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the 9 scored criteria (A1–D2) is assessed against these four bands, then translated into a numeric mark within its point range.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"/>
            <a:ext cx="1371600" cy="438912"/>
          </a:xfrm>
          <a:prstGeom prst="roundRect">
            <a:avLst>
              <a:gd name="adj" fmla="val 18750"/>
            </a:avLst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SECTION 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65960" y="21945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Documents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332720" y="256032"/>
            <a:ext cx="1371600" cy="438912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0332720" y="256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30 marks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11247120" cy="502920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2344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   High-Level Design Document (15 pts)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698480" y="1307592"/>
            <a:ext cx="868680" cy="365760"/>
          </a:xfrm>
          <a:prstGeom prst="roundRect">
            <a:avLst>
              <a:gd name="adj" fmla="val 22500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0698480" y="130759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15 pts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D9EAD3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8745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(90–100%)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" y="215798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Comprehensive, logically sound HLD. All major components identified. Interactions fully described. Appropriate depth for project complexity.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3291840" y="18288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F9C4"/>
          </a:solidFill>
          <a:ln/>
        </p:spPr>
      </p:sp>
      <p:sp>
        <p:nvSpPr>
          <p:cNvPr id="17" name="Text 15"/>
          <p:cNvSpPr/>
          <p:nvPr/>
        </p:nvSpPr>
        <p:spPr>
          <a:xfrm>
            <a:off x="3364992" y="18745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 (75–89%)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64992" y="215798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Well-structured HLD covering most components. Minor gaps in interaction descriptions or justification.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126480" y="18288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CE5CD"/>
          </a:solidFill>
          <a:ln/>
        </p:spPr>
      </p:sp>
      <p:sp>
        <p:nvSpPr>
          <p:cNvPr id="20" name="Text 18"/>
          <p:cNvSpPr/>
          <p:nvPr/>
        </p:nvSpPr>
        <p:spPr>
          <a:xfrm>
            <a:off x="6199632" y="18745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(50–74%)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99632" y="215798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HLD present but lacks depth. Architecture partially described. Components or interactions unclear or missing.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8961120" y="18288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4CCCC"/>
          </a:solidFill>
          <a:ln/>
        </p:spPr>
      </p:sp>
      <p:sp>
        <p:nvSpPr>
          <p:cNvPr id="23" name="Text 21"/>
          <p:cNvSpPr/>
          <p:nvPr/>
        </p:nvSpPr>
        <p:spPr>
          <a:xfrm>
            <a:off x="9034272" y="18745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Competent (0–49%)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034272" y="215798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HLD absent, incomplete, or does not reflect the project. No coherent architecture presented.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457200" y="3337560"/>
            <a:ext cx="11247120" cy="502920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3375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   Detailed Design Document (15 pts)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698480" y="3410712"/>
            <a:ext cx="868680" cy="365760"/>
          </a:xfrm>
          <a:prstGeom prst="roundRect">
            <a:avLst>
              <a:gd name="adj" fmla="val 22500"/>
            </a:avLst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10698480" y="34107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15 pts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D9EAD3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397764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(90–100%)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0352" y="426110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Thorough technical detail for all modules, algorithms, and interfaces. Pseudocode/structured notation used appropriately. Fully aligned with HLD.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3291840" y="393192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F9C4"/>
          </a:solidFill>
          <a:ln/>
        </p:spPr>
      </p:sp>
      <p:sp>
        <p:nvSpPr>
          <p:cNvPr id="33" name="Text 31"/>
          <p:cNvSpPr/>
          <p:nvPr/>
        </p:nvSpPr>
        <p:spPr>
          <a:xfrm>
            <a:off x="3364992" y="397764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 (75–89%)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64992" y="426110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modules and interfaces addressed with adequate technical depth. Minor gaps that do not undermine quality.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6126480" y="393192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CE5CD"/>
          </a:solidFill>
          <a:ln/>
        </p:spPr>
      </p:sp>
      <p:sp>
        <p:nvSpPr>
          <p:cNvPr id="36" name="Text 34"/>
          <p:cNvSpPr/>
          <p:nvPr/>
        </p:nvSpPr>
        <p:spPr>
          <a:xfrm>
            <a:off x="6199632" y="397764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(50–74%)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99632" y="426110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DDD present but technically shallow. Modules partially described. Algorithms or interfaces vague or missing.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8961120" y="393192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4CCCC"/>
          </a:solidFill>
          <a:ln/>
        </p:spPr>
      </p:sp>
      <p:sp>
        <p:nvSpPr>
          <p:cNvPr id="39" name="Text 37"/>
          <p:cNvSpPr/>
          <p:nvPr/>
        </p:nvSpPr>
        <p:spPr>
          <a:xfrm>
            <a:off x="9034272" y="397764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Competent (0–49%)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034272" y="426110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DDD absent or insufficient. Negligible technical detail that does not support implementation.</a:t>
            </a:r>
            <a:endParaRPr lang="en-US" sz="870" dirty="0"/>
          </a:p>
        </p:txBody>
      </p:sp>
      <p:sp>
        <p:nvSpPr>
          <p:cNvPr id="41" name="Text 39"/>
          <p:cNvSpPr/>
          <p:nvPr/>
        </p:nvSpPr>
        <p:spPr>
          <a:xfrm>
            <a:off x="457200" y="5532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Reference: Template Sections 3.1 (HLD) and 3.2 (DDD)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"/>
            <a:ext cx="1371600" cy="438912"/>
          </a:xfrm>
          <a:prstGeom prst="roundRect">
            <a:avLst>
              <a:gd name="adj" fmla="val 18750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SECTION 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65960" y="21945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Diagrams and Visual Aids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332720" y="256032"/>
            <a:ext cx="1371600" cy="438912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0332720" y="256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25 marks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11247120" cy="502920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2344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B1   Architecture / Topology / System Diagram (8 pts)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698480" y="1307592"/>
            <a:ext cx="868680" cy="365760"/>
          </a:xfrm>
          <a:prstGeom prst="roundRect">
            <a:avLst>
              <a:gd name="adj" fmla="val 22500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0698480" y="130759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8 pts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D9EAD3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8745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(90–100%)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" y="215798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Accurate, clearly labelled, professionally presented and captioned. Fully represents structure. Referenced in body text.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3291840" y="18288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F9C4"/>
          </a:solidFill>
          <a:ln/>
        </p:spPr>
      </p:sp>
      <p:sp>
        <p:nvSpPr>
          <p:cNvPr id="17" name="Text 15"/>
          <p:cNvSpPr/>
          <p:nvPr/>
        </p:nvSpPr>
        <p:spPr>
          <a:xfrm>
            <a:off x="3364992" y="18745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 (75–89%)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64992" y="215798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and adequately labelled. Minor labelling or referencing issues. Captures main structure.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126480" y="18288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CE5CD"/>
          </a:solidFill>
          <a:ln/>
        </p:spPr>
      </p:sp>
      <p:sp>
        <p:nvSpPr>
          <p:cNvPr id="20" name="Text 18"/>
          <p:cNvSpPr/>
          <p:nvPr/>
        </p:nvSpPr>
        <p:spPr>
          <a:xfrm>
            <a:off x="6199632" y="18745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(50–74%)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99632" y="215798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but lacks labels, caption, or referencing. Partially represents the system.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8961120" y="18288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4CCCC"/>
          </a:solidFill>
          <a:ln/>
        </p:spPr>
      </p:sp>
      <p:sp>
        <p:nvSpPr>
          <p:cNvPr id="23" name="Text 21"/>
          <p:cNvSpPr/>
          <p:nvPr/>
        </p:nvSpPr>
        <p:spPr>
          <a:xfrm>
            <a:off x="9034272" y="18745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Competent (0–49%)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034272" y="215798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 or does not meaningfully represent the system.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457200" y="2880360"/>
            <a:ext cx="11247120" cy="502920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880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   Sequence / Interaction / Flow Diagram (9 pts)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698480" y="2953512"/>
            <a:ext cx="868680" cy="365760"/>
          </a:xfrm>
          <a:prstGeom prst="roundRect">
            <a:avLst>
              <a:gd name="adj" fmla="val 22500"/>
            </a:avLst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10698480" y="29535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9 pts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D9EAD3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352044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(90–100%)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0352" y="380390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notation. Covers at least one primary use case/process in full. All actors, messages, flows labelled. Explanation provided.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3291840" y="347472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F9C4"/>
          </a:solidFill>
          <a:ln/>
        </p:spPr>
      </p:sp>
      <p:sp>
        <p:nvSpPr>
          <p:cNvPr id="33" name="Text 31"/>
          <p:cNvSpPr/>
          <p:nvPr/>
        </p:nvSpPr>
        <p:spPr>
          <a:xfrm>
            <a:off x="3364992" y="352044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 (75–89%)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64992" y="380390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and covers main flow. Minor notation errors or missing labels. Adequate explanation.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6126480" y="347472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CE5CD"/>
          </a:solidFill>
          <a:ln/>
        </p:spPr>
      </p:sp>
      <p:sp>
        <p:nvSpPr>
          <p:cNvPr id="36" name="Text 34"/>
          <p:cNvSpPr/>
          <p:nvPr/>
        </p:nvSpPr>
        <p:spPr>
          <a:xfrm>
            <a:off x="6199632" y="352044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(50–74%)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99632" y="380390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Notation errors, missing actors, or incomplete flows. Limited explanation.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8961120" y="347472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4CCCC"/>
          </a:solidFill>
          <a:ln/>
        </p:spPr>
      </p:sp>
      <p:sp>
        <p:nvSpPr>
          <p:cNvPr id="39" name="Text 37"/>
          <p:cNvSpPr/>
          <p:nvPr/>
        </p:nvSpPr>
        <p:spPr>
          <a:xfrm>
            <a:off x="9034272" y="352044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Competent (0–49%)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034272" y="380390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 or fundamentally incorrect.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457200" y="4526280"/>
            <a:ext cx="11247120" cy="502920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4526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B3   Data / ERD / DFD / Wireframe (8 pts)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10698480" y="4599432"/>
            <a:ext cx="868680" cy="365760"/>
          </a:xfrm>
          <a:prstGeom prst="roundRect">
            <a:avLst>
              <a:gd name="adj" fmla="val 22500"/>
            </a:avLst>
          </a:prstGeom>
          <a:solidFill>
            <a:srgbClr val="02C39A"/>
          </a:solidFill>
          <a:ln/>
        </p:spPr>
      </p:sp>
      <p:sp>
        <p:nvSpPr>
          <p:cNvPr id="44" name="Text 42"/>
          <p:cNvSpPr/>
          <p:nvPr/>
        </p:nvSpPr>
        <p:spPr>
          <a:xfrm>
            <a:off x="10698480" y="459943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8 pts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512064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D9EAD3"/>
          </a:solidFill>
          <a:ln/>
        </p:spPr>
      </p:sp>
      <p:sp>
        <p:nvSpPr>
          <p:cNvPr id="46" name="Text 44"/>
          <p:cNvSpPr/>
          <p:nvPr/>
        </p:nvSpPr>
        <p:spPr>
          <a:xfrm>
            <a:off x="530352" y="516636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(90–100%)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30352" y="544982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Normalised (ERD min. 3NF), fully labelled entities/attributes/keys/relationships or flows. Directly supports design.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3291840" y="512064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F9C4"/>
          </a:solidFill>
          <a:ln/>
        </p:spPr>
      </p:sp>
      <p:sp>
        <p:nvSpPr>
          <p:cNvPr id="49" name="Text 47"/>
          <p:cNvSpPr/>
          <p:nvPr/>
        </p:nvSpPr>
        <p:spPr>
          <a:xfrm>
            <a:off x="3364992" y="516636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 (75–89%)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364992" y="544982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Adequate. Most entities/flows labelled. Minor normalisation or labelling issues.</a:t>
            </a:r>
            <a:endParaRPr lang="en-US" sz="870" dirty="0"/>
          </a:p>
        </p:txBody>
      </p:sp>
      <p:sp>
        <p:nvSpPr>
          <p:cNvPr id="51" name="Shape 49"/>
          <p:cNvSpPr/>
          <p:nvPr/>
        </p:nvSpPr>
        <p:spPr>
          <a:xfrm>
            <a:off x="6126480" y="512064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CE5CD"/>
          </a:solidFill>
          <a:ln/>
        </p:spPr>
      </p:sp>
      <p:sp>
        <p:nvSpPr>
          <p:cNvPr id="52" name="Text 50"/>
          <p:cNvSpPr/>
          <p:nvPr/>
        </p:nvSpPr>
        <p:spPr>
          <a:xfrm>
            <a:off x="6199632" y="516636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(50–74%)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199632" y="544982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 complete. Key entities, relationships, or flows missing or unlabelled.</a:t>
            </a:r>
            <a:endParaRPr lang="en-US" sz="870" dirty="0"/>
          </a:p>
        </p:txBody>
      </p:sp>
      <p:sp>
        <p:nvSpPr>
          <p:cNvPr id="54" name="Shape 52"/>
          <p:cNvSpPr/>
          <p:nvPr/>
        </p:nvSpPr>
        <p:spPr>
          <a:xfrm>
            <a:off x="8961120" y="512064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4CCCC"/>
          </a:solidFill>
          <a:ln/>
        </p:spPr>
      </p:sp>
      <p:sp>
        <p:nvSpPr>
          <p:cNvPr id="55" name="Text 53"/>
          <p:cNvSpPr/>
          <p:nvPr/>
        </p:nvSpPr>
        <p:spPr>
          <a:xfrm>
            <a:off x="9034272" y="516636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Competent (0–49%)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034272" y="544982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 or does not reflect the project data model or flows.</a:t>
            </a:r>
            <a:endParaRPr lang="en-US" sz="870" dirty="0"/>
          </a:p>
        </p:txBody>
      </p:sp>
      <p:sp>
        <p:nvSpPr>
          <p:cNvPr id="57" name="Text 55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Minimum 3 distinct diagram types required — see Template Section 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"/>
            <a:ext cx="1371600" cy="438912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SECTION 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65960" y="21945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Prototypes and Mockups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332720" y="256032"/>
            <a:ext cx="1371600" cy="438912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0332720" y="256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25 marks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11247120" cy="502920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2344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   Prototype / Simulation Description &amp; Scope (8 pts)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698480" y="1307592"/>
            <a:ext cx="868680" cy="365760"/>
          </a:xfrm>
          <a:prstGeom prst="roundRect">
            <a:avLst>
              <a:gd name="adj" fmla="val 22500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0698480" y="130759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8 pts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D9EAD3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8745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(90–100%)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" y="215798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Clearly described, scope defined, tools identified. Directly linked to project objectives and design decisions.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3291840" y="18288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F9C4"/>
          </a:solidFill>
          <a:ln/>
        </p:spPr>
      </p:sp>
      <p:sp>
        <p:nvSpPr>
          <p:cNvPr id="17" name="Text 15"/>
          <p:cNvSpPr/>
          <p:nvPr/>
        </p:nvSpPr>
        <p:spPr>
          <a:xfrm>
            <a:off x="3364992" y="18745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 (75–89%)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64992" y="215798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Adequate description. Scope mostly defined. Tools identified. Minor gaps linking to design decisions.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126480" y="18288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CE5CD"/>
          </a:solidFill>
          <a:ln/>
        </p:spPr>
      </p:sp>
      <p:sp>
        <p:nvSpPr>
          <p:cNvPr id="20" name="Text 18"/>
          <p:cNvSpPr/>
          <p:nvPr/>
        </p:nvSpPr>
        <p:spPr>
          <a:xfrm>
            <a:off x="6199632" y="18745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(50–74%)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99632" y="215798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description. Scope unclear. Tool use partially described. Weak connection to design.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8961120" y="182880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4CCCC"/>
          </a:solidFill>
          <a:ln/>
        </p:spPr>
      </p:sp>
      <p:sp>
        <p:nvSpPr>
          <p:cNvPr id="23" name="Text 21"/>
          <p:cNvSpPr/>
          <p:nvPr/>
        </p:nvSpPr>
        <p:spPr>
          <a:xfrm>
            <a:off x="9034272" y="18745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Competent (0–49%)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034272" y="215798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meaningful description. No tool use evidenced.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457200" y="2880360"/>
            <a:ext cx="11247120" cy="502920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880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   Screenshots / Simulation Outputs (9 pts)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698480" y="2953512"/>
            <a:ext cx="868680" cy="365760"/>
          </a:xfrm>
          <a:prstGeom prst="roundRect">
            <a:avLst>
              <a:gd name="adj" fmla="val 22500"/>
            </a:avLst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10698480" y="29535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9 pts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D9EAD3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352044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(90–100%)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0352" y="380390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or more annotated screenshots/outputs, each captioned and referenced. Annotations highlight specific design elements.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3291840" y="347472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F9C4"/>
          </a:solidFill>
          <a:ln/>
        </p:spPr>
      </p:sp>
      <p:sp>
        <p:nvSpPr>
          <p:cNvPr id="33" name="Text 31"/>
          <p:cNvSpPr/>
          <p:nvPr/>
        </p:nvSpPr>
        <p:spPr>
          <a:xfrm>
            <a:off x="3364992" y="352044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 (75–89%)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64992" y="380390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 screenshots/outputs. Most captioned. Annotation partially complete.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6126480" y="347472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CE5CD"/>
          </a:solidFill>
          <a:ln/>
        </p:spPr>
      </p:sp>
      <p:sp>
        <p:nvSpPr>
          <p:cNvPr id="36" name="Text 34"/>
          <p:cNvSpPr/>
          <p:nvPr/>
        </p:nvSpPr>
        <p:spPr>
          <a:xfrm>
            <a:off x="6199632" y="352044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(50–74%)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99632" y="380390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 two screenshots. Limited captioning or annotation. Insufficient quality for assessment.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8961120" y="347472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4CCCC"/>
          </a:solidFill>
          <a:ln/>
        </p:spPr>
      </p:sp>
      <p:sp>
        <p:nvSpPr>
          <p:cNvPr id="39" name="Text 37"/>
          <p:cNvSpPr/>
          <p:nvPr/>
        </p:nvSpPr>
        <p:spPr>
          <a:xfrm>
            <a:off x="9034272" y="352044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Competent (0–49%)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034272" y="380390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screenshots or outputs provided, or images unrelated to the project.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457200" y="4526280"/>
            <a:ext cx="11247120" cy="502920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4526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   Functionality Explanation &amp; Design Validation (8 pts)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10698480" y="4599432"/>
            <a:ext cx="868680" cy="365760"/>
          </a:xfrm>
          <a:prstGeom prst="roundRect">
            <a:avLst>
              <a:gd name="adj" fmla="val 22500"/>
            </a:avLst>
          </a:prstGeom>
          <a:solidFill>
            <a:srgbClr val="02C39A"/>
          </a:solidFill>
          <a:ln/>
        </p:spPr>
      </p:sp>
      <p:sp>
        <p:nvSpPr>
          <p:cNvPr id="44" name="Text 42"/>
          <p:cNvSpPr/>
          <p:nvPr/>
        </p:nvSpPr>
        <p:spPr>
          <a:xfrm>
            <a:off x="10698480" y="459943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8 pts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512064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D9EAD3"/>
          </a:solidFill>
          <a:ln/>
        </p:spPr>
      </p:sp>
      <p:sp>
        <p:nvSpPr>
          <p:cNvPr id="46" name="Text 44"/>
          <p:cNvSpPr/>
          <p:nvPr/>
        </p:nvSpPr>
        <p:spPr>
          <a:xfrm>
            <a:off x="530352" y="516636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(90–100%)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30352" y="544982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Clearly links prototype behaviour to design requirements. Demonstrates how prototype validates specific design decisions.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3291840" y="512064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F9C4"/>
          </a:solidFill>
          <a:ln/>
        </p:spPr>
      </p:sp>
      <p:sp>
        <p:nvSpPr>
          <p:cNvPr id="49" name="Text 47"/>
          <p:cNvSpPr/>
          <p:nvPr/>
        </p:nvSpPr>
        <p:spPr>
          <a:xfrm>
            <a:off x="3364992" y="516636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 (75–89%)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364992" y="544982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Adequate explanation. Most features linked to requirements. Minor gaps in validation discussion.</a:t>
            </a:r>
            <a:endParaRPr lang="en-US" sz="870" dirty="0"/>
          </a:p>
        </p:txBody>
      </p:sp>
      <p:sp>
        <p:nvSpPr>
          <p:cNvPr id="51" name="Shape 49"/>
          <p:cNvSpPr/>
          <p:nvPr/>
        </p:nvSpPr>
        <p:spPr>
          <a:xfrm>
            <a:off x="6126480" y="512064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CE5CD"/>
          </a:solidFill>
          <a:ln/>
        </p:spPr>
      </p:sp>
      <p:sp>
        <p:nvSpPr>
          <p:cNvPr id="52" name="Text 50"/>
          <p:cNvSpPr/>
          <p:nvPr/>
        </p:nvSpPr>
        <p:spPr>
          <a:xfrm>
            <a:off x="6199632" y="516636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(50–74%)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199632" y="544982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but superficial. Limited linkage to requirements or design decisions.</a:t>
            </a:r>
            <a:endParaRPr lang="en-US" sz="870" dirty="0"/>
          </a:p>
        </p:txBody>
      </p:sp>
      <p:sp>
        <p:nvSpPr>
          <p:cNvPr id="54" name="Shape 52"/>
          <p:cNvSpPr/>
          <p:nvPr/>
        </p:nvSpPr>
        <p:spPr>
          <a:xfrm>
            <a:off x="8961120" y="512064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4CCCC"/>
          </a:solidFill>
          <a:ln/>
        </p:spPr>
      </p:sp>
      <p:sp>
        <p:nvSpPr>
          <p:cNvPr id="55" name="Text 53"/>
          <p:cNvSpPr/>
          <p:nvPr/>
        </p:nvSpPr>
        <p:spPr>
          <a:xfrm>
            <a:off x="9034272" y="516636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Competent (0–49%)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034272" y="544982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meaningful explanation. Prototype not linked to design or requirements.</a:t>
            </a:r>
            <a:endParaRPr lang="en-US" sz="870" dirty="0"/>
          </a:p>
        </p:txBody>
      </p:sp>
      <p:sp>
        <p:nvSpPr>
          <p:cNvPr id="57" name="Text 55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Reference: Template Section 5 — annotate every screenshot with what it validates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"/>
            <a:ext cx="1371600" cy="438912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SECTION 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65960" y="21945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Traceability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332720" y="256032"/>
            <a:ext cx="1371600" cy="438912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0332720" y="256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20 marks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11247120" cy="502920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371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   Completeness of Traceability Matrix (10 pts)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698480" y="1444752"/>
            <a:ext cx="868680" cy="365760"/>
          </a:xfrm>
          <a:prstGeom prst="roundRect">
            <a:avLst>
              <a:gd name="adj" fmla="val 22500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0698480" y="144475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10 pts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D9EAD3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01168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(90–100%)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" y="229514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requirements from Analysis Phase represented. Each row has requirement ID, design element, and justification. No gaps.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3291840" y="19659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F9C4"/>
          </a:solidFill>
          <a:ln/>
        </p:spPr>
      </p:sp>
      <p:sp>
        <p:nvSpPr>
          <p:cNvPr id="17" name="Text 15"/>
          <p:cNvSpPr/>
          <p:nvPr/>
        </p:nvSpPr>
        <p:spPr>
          <a:xfrm>
            <a:off x="3364992" y="201168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 (75–89%)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64992" y="229514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requirements traced. One or two rows incomplete or missing justification.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126480" y="19659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CE5CD"/>
          </a:solidFill>
          <a:ln/>
        </p:spPr>
      </p:sp>
      <p:sp>
        <p:nvSpPr>
          <p:cNvPr id="20" name="Text 18"/>
          <p:cNvSpPr/>
          <p:nvPr/>
        </p:nvSpPr>
        <p:spPr>
          <a:xfrm>
            <a:off x="6199632" y="201168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(50–74%)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99632" y="229514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 complete. Multiple requirements untraced or justifications absent.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8961120" y="19659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4CCCC"/>
          </a:solidFill>
          <a:ln/>
        </p:spPr>
      </p:sp>
      <p:sp>
        <p:nvSpPr>
          <p:cNvPr id="23" name="Text 21"/>
          <p:cNvSpPr/>
          <p:nvPr/>
        </p:nvSpPr>
        <p:spPr>
          <a:xfrm>
            <a:off x="9034272" y="201168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Competent (0–49%)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034272" y="229514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Absent, or fewer than half of requirements traced with justification.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11247120" cy="502920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4747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   Quality and Specificity of Justification (10 pts)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698480" y="3547872"/>
            <a:ext cx="868680" cy="365760"/>
          </a:xfrm>
          <a:prstGeom prst="roundRect">
            <a:avLst>
              <a:gd name="adj" fmla="val 22500"/>
            </a:avLst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10698480" y="354787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10 pts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D9EAD3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411480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(90–100%)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0352" y="439826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Specific, technical justifications clearly explaining how each design element addresses its requirement. Design elements referenced by section/figure.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3291840" y="406908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FF9C4"/>
          </a:solidFill>
          <a:ln/>
        </p:spPr>
      </p:sp>
      <p:sp>
        <p:nvSpPr>
          <p:cNvPr id="33" name="Text 31"/>
          <p:cNvSpPr/>
          <p:nvPr/>
        </p:nvSpPr>
        <p:spPr>
          <a:xfrm>
            <a:off x="3364992" y="411480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 (75–89%)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64992" y="439826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Adequate and mostly specific justifications. Some generic or lack design cross-references.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6126480" y="406908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CE5CD"/>
          </a:solidFill>
          <a:ln/>
        </p:spPr>
      </p:sp>
      <p:sp>
        <p:nvSpPr>
          <p:cNvPr id="36" name="Text 34"/>
          <p:cNvSpPr/>
          <p:nvPr/>
        </p:nvSpPr>
        <p:spPr>
          <a:xfrm>
            <a:off x="6199632" y="411480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(50–74%)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99632" y="439826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or repetitive justifications. Limited specificity. Design elements not clearly identified.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8961120" y="406908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4CCCC"/>
          </a:solidFill>
          <a:ln/>
        </p:spPr>
      </p:sp>
      <p:sp>
        <p:nvSpPr>
          <p:cNvPr id="39" name="Text 37"/>
          <p:cNvSpPr/>
          <p:nvPr/>
        </p:nvSpPr>
        <p:spPr>
          <a:xfrm>
            <a:off x="9034272" y="411480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Competent (0–49%)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034272" y="4398264"/>
            <a:ext cx="2596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 or do not meaningfully link requirements to design.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457200" y="562356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94360" y="5687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row: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4360" y="59436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REQ-004 (SMS reminders)  →  Twilio SMS Integration Module (§3.2.1)  →  "Reduces no-shows by 40% per BMC Health Services Research (2022)"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"/>
            <a:ext cx="1371600" cy="438912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SECTION 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65960" y="21945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Evaluation &amp; Academic Quality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332720" y="256032"/>
            <a:ext cx="1371600" cy="438912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0332720" y="256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Holistic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B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criteria do not carry independent marks — they inform mark adjustment across all sections.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11247120" cy="457200"/>
          </a:xfrm>
          <a:prstGeom prst="roundRect">
            <a:avLst>
              <a:gd name="adj" fmla="val 20000"/>
            </a:avLst>
          </a:prstGeom>
          <a:solidFill>
            <a:srgbClr val="1E2A3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E1   Feasibility, Scalability &amp; Security Discussion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D9EAD3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14884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(90–100%)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0352" y="2432304"/>
            <a:ext cx="2596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dimensions addressed with technical depth. Risk matrix complete with realistic mitigations.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91840" y="21031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9C4"/>
          </a:solidFill>
          <a:ln/>
        </p:spPr>
      </p:sp>
      <p:sp>
        <p:nvSpPr>
          <p:cNvPr id="16" name="Text 14"/>
          <p:cNvSpPr/>
          <p:nvPr/>
        </p:nvSpPr>
        <p:spPr>
          <a:xfrm>
            <a:off x="3364992" y="214884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 (75–89%)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64992" y="2432304"/>
            <a:ext cx="2596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two dimensions addressed adequately. Risk matrix partially complete.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26480" y="21031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CE5CD"/>
          </a:solidFill>
          <a:ln/>
        </p:spPr>
      </p:sp>
      <p:sp>
        <p:nvSpPr>
          <p:cNvPr id="19" name="Text 17"/>
          <p:cNvSpPr/>
          <p:nvPr/>
        </p:nvSpPr>
        <p:spPr>
          <a:xfrm>
            <a:off x="6199632" y="214884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(50–74%)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99632" y="2432304"/>
            <a:ext cx="2596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but lacks depth. One or two dimensions superficially addressed.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961120" y="21031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4CCCC"/>
          </a:solidFill>
          <a:ln/>
        </p:spPr>
      </p:sp>
      <p:sp>
        <p:nvSpPr>
          <p:cNvPr id="22" name="Text 20"/>
          <p:cNvSpPr/>
          <p:nvPr/>
        </p:nvSpPr>
        <p:spPr>
          <a:xfrm>
            <a:off x="9034272" y="214884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Competent (0–49%)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034272" y="2432304"/>
            <a:ext cx="2596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 or does not address the project context.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11247120" cy="457200"/>
          </a:xfrm>
          <a:prstGeom prst="roundRect">
            <a:avLst>
              <a:gd name="adj" fmla="val 20000"/>
            </a:avLst>
          </a:prstGeom>
          <a:solidFill>
            <a:srgbClr val="1E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886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E2   Academic Writing, Referencing &amp; Presentation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43484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D9EAD3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" y="448056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(90–100%)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0352" y="4764024"/>
            <a:ext cx="2596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tone throughout. Min. 5 correctly formatted references. No spelling/grammar errors. Professional structure.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91840" y="443484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9C4"/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448056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 (75–89%)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64992" y="4764024"/>
            <a:ext cx="2596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Generally formal. 3–4 references correctly formatted. Minor language or formatting issues.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26480" y="443484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CE5CD"/>
          </a:solidFill>
          <a:ln/>
        </p:spPr>
      </p:sp>
      <p:sp>
        <p:nvSpPr>
          <p:cNvPr id="33" name="Text 31"/>
          <p:cNvSpPr/>
          <p:nvPr/>
        </p:nvSpPr>
        <p:spPr>
          <a:xfrm>
            <a:off x="6199632" y="448056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(50–74%)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99632" y="4764024"/>
            <a:ext cx="2596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3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 language present. Fewer than 3 references. Noticeable errors.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961120" y="443484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4CCCC"/>
          </a:solidFill>
          <a:ln/>
        </p:spPr>
      </p:sp>
      <p:sp>
        <p:nvSpPr>
          <p:cNvPr id="36" name="Text 34"/>
          <p:cNvSpPr/>
          <p:nvPr/>
        </p:nvSpPr>
        <p:spPr>
          <a:xfrm>
            <a:off x="9034272" y="448056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Competent (0–49%)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034272" y="4764024"/>
            <a:ext cx="2596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academic writing. Minimal or no referencing. Significant presentation deficiencies.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Band Descriptors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total score (out of 100) determines your overall grade band.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47120" cy="1033272"/>
          </a:xfrm>
          <a:prstGeom prst="roundRect">
            <a:avLst>
              <a:gd name="adj" fmla="val 8850"/>
            </a:avLst>
          </a:prstGeom>
          <a:solidFill>
            <a:srgbClr val="D9EAD3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91640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Distinction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039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– 100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1618488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criteria met at an exemplary level. Diagrams, documents, and prototypes are professionally executed and fully labelled. Traceability is complete. Writing is fluent and referencing impeccable.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79192"/>
            <a:ext cx="11247120" cy="1033272"/>
          </a:xfrm>
          <a:prstGeom prst="roundRect">
            <a:avLst>
              <a:gd name="adj" fmla="val 8850"/>
            </a:avLst>
          </a:prstGeom>
          <a:solidFill>
            <a:srgbClr val="FFF9C4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2862072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862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209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– 89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27889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criteria met to a high standard. Minor gaps in one or two areas. Clear technical competence. Traceability mostly complete. Writing clear, referencing adequate.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11247120" cy="1033272"/>
          </a:xfrm>
          <a:prstGeom prst="roundRect">
            <a:avLst>
              <a:gd name="adj" fmla="val 8850"/>
            </a:avLst>
          </a:prstGeom>
          <a:solidFill>
            <a:srgbClr val="FCE5CD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4032504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0325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3799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– 74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3959352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criteria met satisfactorily. Some gaps in technical depth, diagram quality, or traceability. Functional design demonstrating adequate domain understanding.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020056"/>
            <a:ext cx="11247120" cy="1033272"/>
          </a:xfrm>
          <a:prstGeom prst="roundRect">
            <a:avLst>
              <a:gd name="adj" fmla="val 8850"/>
            </a:avLst>
          </a:prstGeom>
          <a:solidFill>
            <a:srgbClr val="F4CCCC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5202936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BE123C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2029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Yet Competent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5550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49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26080" y="5129784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criteria not met. Major deficiencies in design documents, diagrams, or traceability. Insufficient design readiness. Resubmission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Your 100 Marks Come From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2194560" cy="3291840"/>
          </a:xfrm>
          <a:prstGeom prst="roundRect">
            <a:avLst>
              <a:gd name="adj" fmla="val 4167"/>
            </a:avLst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212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Documents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03320" y="2377440"/>
            <a:ext cx="2194560" cy="2743200"/>
          </a:xfrm>
          <a:prstGeom prst="roundRect">
            <a:avLst>
              <a:gd name="adj" fmla="val 4167"/>
            </a:avLst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5212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Diagrams &amp; Visual Aids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37960" y="2377440"/>
            <a:ext cx="2194560" cy="2743200"/>
          </a:xfrm>
          <a:prstGeom prst="roundRect">
            <a:avLst>
              <a:gd name="adj" fmla="val 4167"/>
            </a:avLst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9360" y="5212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Prototypes &amp; Mockups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72600" y="2926080"/>
            <a:ext cx="2194560" cy="2194560"/>
          </a:xfrm>
          <a:prstGeom prst="roundRect">
            <a:avLst>
              <a:gd name="adj" fmla="val 4167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937260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0" y="5212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Traceability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26880" y="118872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932688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 available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Section E (Design Evaluation &amp; Academic Quality) carries no independent marks but adjusts scores across all four sections above.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Submit: Self-Check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through this checklist — it mirrors exactly what the assessor checks against the rubric.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6692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645920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645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58191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required diagrams clearly labelled with figure numbers and captions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56692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2487168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24231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three distinct diagram types included (not variations of one type)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91256"/>
            <a:ext cx="56692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" y="3328416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326440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screenshots are annotated and each image is captioned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032504"/>
            <a:ext cx="56692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4169664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4169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5568" y="410565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matrix links every requirement to a specific design element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873752"/>
            <a:ext cx="56692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5010912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5010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5568" y="494690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Stream-specific section (§8) fully completed — other streams marked N/A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55080" y="1508760"/>
            <a:ext cx="56692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64808" y="1645920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6464808" y="1645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13448" y="158191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risk evaluation addressed (feasibility, scalability, security)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55080" y="2350008"/>
            <a:ext cx="56692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64808" y="2487168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464808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13448" y="24231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references formatted consistently (Harvard or APA 7th)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55080" y="3191256"/>
            <a:ext cx="56692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64808" y="3328416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6464808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13448" y="326440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Appendices complete and referenced in the body text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55080" y="4032504"/>
            <a:ext cx="56692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64808" y="4169664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02C39A"/>
          </a:solidFill>
          <a:ln/>
        </p:spPr>
      </p:sp>
      <p:sp>
        <p:nvSpPr>
          <p:cNvPr id="39" name="Text 37"/>
          <p:cNvSpPr/>
          <p:nvPr/>
        </p:nvSpPr>
        <p:spPr>
          <a:xfrm>
            <a:off x="6464808" y="4169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13448" y="410565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proofread — formal academic language throughout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914400"/>
            <a:ext cx="5943600" cy="5943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114800"/>
            <a:ext cx="4572000" cy="45720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the rubric. Meet the standard.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0B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mark on this rubric is earned through evidence, clarity, and deliberate design.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3566160"/>
            <a:ext cx="5760720" cy="594360"/>
          </a:xfrm>
          <a:prstGeom prst="roundRect">
            <a:avLst>
              <a:gd name="adj" fmla="val 18462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356616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</a:rPr>
              <a:t>📊  This rubric is loaded in Blackboard against the Design Phase Assignment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about your mark? Speak to your supervisor first, then the module coordinator.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63093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PGDip ICT  ·  Capstone Project  ·  Design Phase Rubric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2026-07-27T16:00:53Z</dcterms:created>
  <dcterms:modified xsi:type="dcterms:W3CDTF">2026-07-27T16:00:53Z</dcterms:modified>
</cp:coreProperties>
</file>